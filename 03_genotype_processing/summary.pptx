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A84"/>
    <a:srgbClr val="46B1E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977" autoAdjust="0"/>
  </p:normalViewPr>
  <p:slideViewPr>
    <p:cSldViewPr snapToGrid="0">
      <p:cViewPr>
        <p:scale>
          <a:sx n="80" d="100"/>
          <a:sy n="80" d="100"/>
        </p:scale>
        <p:origin x="787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4D379-1E12-4FD8-861A-E2CBB4D98F5A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82A5F-AFB7-4874-AF04-CCAA075414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4436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82A5F-AFB7-4874-AF04-CCAA075414A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718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BDF7F9-3932-2BC7-F5AD-CDC26D51F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FA6DC6B-E24F-2ADA-26DE-0F2EDD4ED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9AB2AE-1119-E401-E337-F4918D9B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7A728E-A0F5-29C9-ABF5-0C3AD56D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AB3124-DAB7-78CC-0DCC-F0C8698A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57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97D483-6ADE-B3F7-047D-FD7287C9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9FF038-FA73-924D-F405-077E6A0E3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B31E1C-49B3-0896-9320-E8EF156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CCEDD9-2572-1969-B107-A38841CFE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34BE2D-769E-40EC-D526-1838C9364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572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AE9032-0299-13A9-4D29-E61818D28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334A3F-3786-3E1C-5C71-02CA234BA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E842F9-318B-8CF7-34B5-3C103456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D0C47B-85A4-97B3-DC42-97BBEEC0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1B1D63-C38D-F94D-9911-0280370A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52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9D8C03-D959-0325-99D7-9237A72C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27E5E6-6E43-478C-16D0-636CD0FD6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DA1F25-5529-724E-DBC1-217D61942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0433E9-C84C-240C-86B2-39B9C943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ED066D-F254-71B5-0C41-D12DE255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5B95CD-1627-B561-C424-004FD23D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86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D9D321-37EF-D233-1B1C-B2CA2E71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7B9D5B-ED7F-C03D-4A3E-9009C18D6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F8CD8B-F97C-E3BB-9F23-19975F816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E9307C0-69C1-9741-2BCC-96F42AC17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430167C-F72F-33C1-F072-7B28278F8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78A8DE2-BB03-E7D2-D755-DC9619AC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3BFE6F2-D33D-7F72-5574-AE004E65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5504DE6-0411-F29D-1DD7-63081990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377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9BCE4A-50EE-7D95-8442-88CA2C8FE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3CAA0FA-84D3-ACB5-4DA2-0835B181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B4F8A43-FA59-83C5-AF24-C0F14D491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C3FD52D-968A-4625-6A80-2F593121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32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3B350C7-8651-893D-D3E8-58F6122D8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BB6A25C-6A30-7692-44F7-AA383E94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7189A4-720E-D4A0-5938-6CC5C25B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31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8A5D80-E5A3-353E-0132-872FFB797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20CF61-7D3D-646E-E6A9-6B01D31BA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C7330B5-E210-D51C-13EC-CAAFB1B5D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B248A5-A0DC-E353-90B0-F68436B7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19D3D3-0982-4FF0-924D-8536D0C0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664534-F6FF-3472-5400-9DB5276E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18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ED659E-31B2-F2AD-73BA-D37A5F71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5196B0-6AF7-78E3-0425-885742947B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998F07-0709-8575-D1C2-D83FA82B6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58C43C8-D192-EE3A-66BA-B0249227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42BDFE-8C04-CA58-7578-93FFD8A25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2AE0A7-FF9D-DC70-81D3-222B1334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954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DAD058-58E9-C5FA-EEA5-275056BD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193F8F1-EE9E-55C6-0FDF-5F6558940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C836A0-0C3E-FD39-8813-C9C52869C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D3B895-1FE5-40C4-A39C-76EC665E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2F87FD-A036-3B6C-0EFA-74215465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101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4525BE7-ED5B-9F3D-1750-91097B6BF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B55A8F-40A7-9355-B4EF-B691800AB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3DDE8C-E134-2591-D713-1AB08490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856737-EDBA-8BD1-5770-E6CC8452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E30F59-572D-E6A0-0534-22676886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650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9CA79AF-35F8-7B62-1F8C-85179830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D1F2BA-2558-B6F0-CE47-D44CD3A91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E819A9-C3E9-5194-314D-EDCA11D1D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6FCB1-B385-49DC-BEDC-5BC8E22E7C88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338CBC-9822-D885-679D-23F9AC6E1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1AC766-E266-5ECB-A4B5-F3F916237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A3A3E-D02F-4CC6-9288-527682DC1B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19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F14BC-D194-2FCC-9883-11F87F98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群組 77">
            <a:extLst>
              <a:ext uri="{FF2B5EF4-FFF2-40B4-BE49-F238E27FC236}">
                <a16:creationId xmlns:a16="http://schemas.microsoft.com/office/drawing/2014/main" id="{BAE45292-F6E1-6000-BB90-CCFF15882E67}"/>
              </a:ext>
            </a:extLst>
          </p:cNvPr>
          <p:cNvGrpSpPr/>
          <p:nvPr/>
        </p:nvGrpSpPr>
        <p:grpSpPr>
          <a:xfrm>
            <a:off x="636493" y="1155856"/>
            <a:ext cx="10241283" cy="5279318"/>
            <a:chOff x="636493" y="1155856"/>
            <a:chExt cx="10241283" cy="5279318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02E36943-6CA5-512F-1EE4-176ED8679BA4}"/>
                </a:ext>
              </a:extLst>
            </p:cNvPr>
            <p:cNvSpPr/>
            <p:nvPr/>
          </p:nvSpPr>
          <p:spPr>
            <a:xfrm>
              <a:off x="1753496" y="1155856"/>
              <a:ext cx="2286000" cy="8552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TOPMed genotype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DEB7E4F7-3DB5-50B2-9968-FD8AF4EF03F7}"/>
                </a:ext>
              </a:extLst>
            </p:cNvPr>
            <p:cNvSpPr/>
            <p:nvPr/>
          </p:nvSpPr>
          <p:spPr>
            <a:xfrm>
              <a:off x="1753496" y="2628758"/>
              <a:ext cx="2286000" cy="8552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QC-ed genotype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606B8E4A-08D8-788B-9B35-5689F3D2AD70}"/>
                </a:ext>
              </a:extLst>
            </p:cNvPr>
            <p:cNvSpPr/>
            <p:nvPr/>
          </p:nvSpPr>
          <p:spPr>
            <a:xfrm>
              <a:off x="1753496" y="4107039"/>
              <a:ext cx="2286000" cy="8552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GWAS summary statistics</a:t>
              </a:r>
              <a:br>
                <a:rPr lang="en-US" altLang="zh-TW" sz="1400" dirty="0">
                  <a:solidFill>
                    <a:schemeClr val="tx1"/>
                  </a:solidFill>
                </a:rPr>
              </a:br>
              <a:r>
                <a:rPr lang="en-US" altLang="zh-TW" sz="1400" dirty="0">
                  <a:solidFill>
                    <a:schemeClr val="tx1"/>
                  </a:solidFill>
                </a:rPr>
                <a:t>(CHR:POS)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FA744124-A90D-8BF8-F880-00F1EDF48E3B}"/>
                </a:ext>
              </a:extLst>
            </p:cNvPr>
            <p:cNvSpPr/>
            <p:nvPr/>
          </p:nvSpPr>
          <p:spPr>
            <a:xfrm>
              <a:off x="1779493" y="5579941"/>
              <a:ext cx="2286000" cy="85523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Manhattan plot and </a:t>
              </a:r>
              <a:br>
                <a:rPr lang="en-US" altLang="zh-TW" sz="1400" dirty="0">
                  <a:solidFill>
                    <a:schemeClr val="tx1"/>
                  </a:solidFill>
                </a:rPr>
              </a:br>
              <a:r>
                <a:rPr lang="en-US" altLang="zh-TW" sz="1400" dirty="0">
                  <a:solidFill>
                    <a:schemeClr val="tx1"/>
                  </a:solidFill>
                </a:rPr>
                <a:t>QQ plot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504D6613-DA90-6343-7C63-5382DF7539B3}"/>
                </a:ext>
              </a:extLst>
            </p:cNvPr>
            <p:cNvSpPr/>
            <p:nvPr/>
          </p:nvSpPr>
          <p:spPr>
            <a:xfrm>
              <a:off x="5055197" y="1155856"/>
              <a:ext cx="2286000" cy="85523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TOPMed</a:t>
              </a:r>
              <a:r>
                <a:rPr lang="zh-TW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altLang="zh-TW" sz="1400" dirty="0">
                  <a:solidFill>
                    <a:schemeClr val="tx1"/>
                  </a:solidFill>
                </a:rPr>
                <a:t>helper files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: 圓角 13">
              <a:extLst>
                <a:ext uri="{FF2B5EF4-FFF2-40B4-BE49-F238E27FC236}">
                  <a16:creationId xmlns:a16="http://schemas.microsoft.com/office/drawing/2014/main" id="{04D5BCEB-A2B3-4020-D66C-BAB016826456}"/>
                </a:ext>
              </a:extLst>
            </p:cNvPr>
            <p:cNvSpPr/>
            <p:nvPr/>
          </p:nvSpPr>
          <p:spPr>
            <a:xfrm>
              <a:off x="5055197" y="2628758"/>
              <a:ext cx="2286000" cy="85523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CHR:POS to </a:t>
              </a:r>
              <a:r>
                <a:rPr lang="en-US" altLang="zh-TW" sz="1400" dirty="0" err="1">
                  <a:solidFill>
                    <a:schemeClr val="tx1"/>
                  </a:solidFill>
                </a:rPr>
                <a:t>rsID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CB459FF5-A12F-CB3C-94CF-3A803C6D23AE}"/>
                </a:ext>
              </a:extLst>
            </p:cNvPr>
            <p:cNvCxnSpPr>
              <a:stCxn id="2" idx="2"/>
              <a:endCxn id="10" idx="0"/>
            </p:cNvCxnSpPr>
            <p:nvPr/>
          </p:nvCxnSpPr>
          <p:spPr>
            <a:xfrm>
              <a:off x="2896496" y="2011089"/>
              <a:ext cx="0" cy="6176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F6F58D9A-2C8A-3BB6-4E05-479099BB9AF4}"/>
                </a:ext>
              </a:extLst>
            </p:cNvPr>
            <p:cNvCxnSpPr/>
            <p:nvPr/>
          </p:nvCxnSpPr>
          <p:spPr>
            <a:xfrm>
              <a:off x="2896496" y="3483991"/>
              <a:ext cx="0" cy="6176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1E3FCC1F-871F-C370-8DD0-FC3A455B0115}"/>
                </a:ext>
              </a:extLst>
            </p:cNvPr>
            <p:cNvCxnSpPr/>
            <p:nvPr/>
          </p:nvCxnSpPr>
          <p:spPr>
            <a:xfrm>
              <a:off x="2922493" y="4962272"/>
              <a:ext cx="0" cy="6176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B5AB5AF8-F466-6F0D-766C-E57CEEFC2685}"/>
                </a:ext>
              </a:extLst>
            </p:cNvPr>
            <p:cNvCxnSpPr/>
            <p:nvPr/>
          </p:nvCxnSpPr>
          <p:spPr>
            <a:xfrm>
              <a:off x="6256467" y="2011089"/>
              <a:ext cx="0" cy="6176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8C758458-9CD2-2C36-1951-50B7DF3C9211}"/>
                </a:ext>
              </a:extLst>
            </p:cNvPr>
            <p:cNvSpPr/>
            <p:nvPr/>
          </p:nvSpPr>
          <p:spPr>
            <a:xfrm>
              <a:off x="5113468" y="5579941"/>
              <a:ext cx="2286000" cy="85523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LDSC</a:t>
              </a:r>
              <a:r>
                <a:rPr lang="zh-TW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altLang="zh-TW" sz="1400" dirty="0">
                  <a:solidFill>
                    <a:schemeClr val="tx1"/>
                  </a:solidFill>
                </a:rPr>
                <a:t>heritability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C0A52B1A-6FD9-957E-7820-03DDAE9AEBB7}"/>
                </a:ext>
              </a:extLst>
            </p:cNvPr>
            <p:cNvSpPr/>
            <p:nvPr/>
          </p:nvSpPr>
          <p:spPr>
            <a:xfrm>
              <a:off x="8591776" y="2628758"/>
              <a:ext cx="2286000" cy="8552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QC-ed genotype</a:t>
              </a:r>
              <a:br>
                <a:rPr lang="en-US" altLang="zh-TW" sz="1400" dirty="0">
                  <a:solidFill>
                    <a:schemeClr val="tx1"/>
                  </a:solidFill>
                </a:rPr>
              </a:br>
              <a:r>
                <a:rPr lang="en-US" altLang="zh-TW" sz="1400" dirty="0">
                  <a:solidFill>
                    <a:schemeClr val="tx1"/>
                  </a:solidFill>
                </a:rPr>
                <a:t>(brain cohort)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48BF6E47-80E8-A1BE-5E59-DD66AA4438CE}"/>
                </a:ext>
              </a:extLst>
            </p:cNvPr>
            <p:cNvSpPr txBox="1"/>
            <p:nvPr/>
          </p:nvSpPr>
          <p:spPr>
            <a:xfrm>
              <a:off x="1772407" y="2157380"/>
              <a:ext cx="10514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qc_flow.txt</a:t>
              </a:r>
              <a:endParaRPr lang="zh-TW" altLang="en-US" sz="1400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F3D5AE69-5743-B055-46D9-C2AAE4C4364A}"/>
                </a:ext>
              </a:extLst>
            </p:cNvPr>
            <p:cNvSpPr txBox="1"/>
            <p:nvPr/>
          </p:nvSpPr>
          <p:spPr>
            <a:xfrm>
              <a:off x="1673534" y="3660305"/>
              <a:ext cx="11503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Bolt-lmm.txt</a:t>
              </a:r>
              <a:endParaRPr lang="zh-TW" altLang="en-US" sz="1400" dirty="0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AEB99229-3416-C10C-19A0-CB38AFB4DD23}"/>
                </a:ext>
              </a:extLst>
            </p:cNvPr>
            <p:cNvSpPr txBox="1"/>
            <p:nvPr/>
          </p:nvSpPr>
          <p:spPr>
            <a:xfrm>
              <a:off x="636493" y="5128285"/>
              <a:ext cx="24079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 err="1"/>
                <a:t>manhattan_qq_sigsnps.R</a:t>
              </a:r>
              <a:endParaRPr lang="zh-TW" altLang="en-US" sz="1400" dirty="0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1B460252-D8F3-CBBA-78DB-8AAD4DD56505}"/>
                </a:ext>
              </a:extLst>
            </p:cNvPr>
            <p:cNvSpPr txBox="1"/>
            <p:nvPr/>
          </p:nvSpPr>
          <p:spPr>
            <a:xfrm>
              <a:off x="5014411" y="2157379"/>
              <a:ext cx="11837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qc_helper.txt</a:t>
              </a:r>
              <a:endParaRPr lang="zh-TW" altLang="en-US" sz="1400" dirty="0"/>
            </a:p>
          </p:txBody>
        </p: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E96888DB-A58E-2A88-E276-046268BDD265}"/>
                </a:ext>
              </a:extLst>
            </p:cNvPr>
            <p:cNvCxnSpPr/>
            <p:nvPr/>
          </p:nvCxnSpPr>
          <p:spPr>
            <a:xfrm>
              <a:off x="6267223" y="3483991"/>
              <a:ext cx="0" cy="6176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: 圓角 45">
              <a:extLst>
                <a:ext uri="{FF2B5EF4-FFF2-40B4-BE49-F238E27FC236}">
                  <a16:creationId xmlns:a16="http://schemas.microsoft.com/office/drawing/2014/main" id="{142A14F4-4BA1-074C-5943-3F0A7113641F}"/>
                </a:ext>
              </a:extLst>
            </p:cNvPr>
            <p:cNvSpPr/>
            <p:nvPr/>
          </p:nvSpPr>
          <p:spPr>
            <a:xfrm>
              <a:off x="5113467" y="4107039"/>
              <a:ext cx="2286000" cy="8552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GWAS summary statistics</a:t>
              </a:r>
              <a:br>
                <a:rPr lang="en-US" altLang="zh-TW" sz="1400" dirty="0">
                  <a:solidFill>
                    <a:schemeClr val="tx1"/>
                  </a:solidFill>
                </a:rPr>
              </a:br>
              <a:r>
                <a:rPr lang="en-US" altLang="zh-TW" sz="1400" dirty="0">
                  <a:solidFill>
                    <a:schemeClr val="tx1"/>
                  </a:solidFill>
                </a:rPr>
                <a:t>(</a:t>
              </a:r>
              <a:r>
                <a:rPr lang="en-US" altLang="zh-TW" sz="1400" dirty="0" err="1">
                  <a:solidFill>
                    <a:schemeClr val="tx1"/>
                  </a:solidFill>
                </a:rPr>
                <a:t>rsID</a:t>
              </a:r>
              <a:r>
                <a:rPr lang="en-US" altLang="zh-TW" sz="1400" dirty="0">
                  <a:solidFill>
                    <a:schemeClr val="tx1"/>
                  </a:solidFill>
                </a:rPr>
                <a:t>)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F9B95F03-8A54-2C82-E25A-A14A6C601E73}"/>
                </a:ext>
              </a:extLst>
            </p:cNvPr>
            <p:cNvCxnSpPr>
              <a:cxnSpLocks/>
              <a:stCxn id="11" idx="3"/>
              <a:endCxn id="46" idx="1"/>
            </p:cNvCxnSpPr>
            <p:nvPr/>
          </p:nvCxnSpPr>
          <p:spPr>
            <a:xfrm>
              <a:off x="4039496" y="4534656"/>
              <a:ext cx="10739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58C8266A-5619-168D-5112-4A3489416B00}"/>
                </a:ext>
              </a:extLst>
            </p:cNvPr>
            <p:cNvSpPr txBox="1"/>
            <p:nvPr/>
          </p:nvSpPr>
          <p:spPr>
            <a:xfrm>
              <a:off x="5381336" y="3660304"/>
              <a:ext cx="6905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 err="1"/>
                <a:t>map.R</a:t>
              </a:r>
              <a:endParaRPr lang="zh-TW" altLang="en-US" sz="1400" dirty="0"/>
            </a:p>
          </p:txBody>
        </p: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46663131-0CC2-D0CE-73B6-B7C84AA3D0D3}"/>
                </a:ext>
              </a:extLst>
            </p:cNvPr>
            <p:cNvCxnSpPr>
              <a:cxnSpLocks/>
              <a:stCxn id="46" idx="2"/>
              <a:endCxn id="24" idx="0"/>
            </p:cNvCxnSpPr>
            <p:nvPr/>
          </p:nvCxnSpPr>
          <p:spPr>
            <a:xfrm>
              <a:off x="6256467" y="4962272"/>
              <a:ext cx="1" cy="6176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E432EFCA-9434-D814-B8C8-0F0359D2569C}"/>
                </a:ext>
              </a:extLst>
            </p:cNvPr>
            <p:cNvSpPr txBox="1"/>
            <p:nvPr/>
          </p:nvSpPr>
          <p:spPr>
            <a:xfrm>
              <a:off x="5410703" y="5097507"/>
              <a:ext cx="7401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ldsc.py</a:t>
              </a:r>
              <a:endParaRPr lang="zh-TW" altLang="en-US" sz="1400" dirty="0"/>
            </a:p>
          </p:txBody>
        </p:sp>
        <p:sp>
          <p:nvSpPr>
            <p:cNvPr id="55" name="矩形: 圓角 54">
              <a:extLst>
                <a:ext uri="{FF2B5EF4-FFF2-40B4-BE49-F238E27FC236}">
                  <a16:creationId xmlns:a16="http://schemas.microsoft.com/office/drawing/2014/main" id="{01C1718F-4C23-1DD3-19D3-20795FDB8F5E}"/>
                </a:ext>
              </a:extLst>
            </p:cNvPr>
            <p:cNvSpPr/>
            <p:nvPr/>
          </p:nvSpPr>
          <p:spPr>
            <a:xfrm>
              <a:off x="8591776" y="5579940"/>
              <a:ext cx="2286000" cy="85523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PGS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FBC17EE3-9996-1E33-D1AF-F8DA2B7D4337}"/>
                </a:ext>
              </a:extLst>
            </p:cNvPr>
            <p:cNvCxnSpPr>
              <a:cxnSpLocks/>
              <a:stCxn id="24" idx="3"/>
              <a:endCxn id="55" idx="1"/>
            </p:cNvCxnSpPr>
            <p:nvPr/>
          </p:nvCxnSpPr>
          <p:spPr>
            <a:xfrm flipV="1">
              <a:off x="7399468" y="6007557"/>
              <a:ext cx="119230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F3897C6D-CF2A-C10D-3218-72944D3FE653}"/>
                </a:ext>
              </a:extLst>
            </p:cNvPr>
            <p:cNvCxnSpPr>
              <a:cxnSpLocks/>
              <a:endCxn id="55" idx="0"/>
            </p:cNvCxnSpPr>
            <p:nvPr/>
          </p:nvCxnSpPr>
          <p:spPr>
            <a:xfrm>
              <a:off x="9734776" y="3483992"/>
              <a:ext cx="0" cy="20959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680E248F-8E07-CBD0-7211-2BFA94B9595D}"/>
                </a:ext>
              </a:extLst>
            </p:cNvPr>
            <p:cNvCxnSpPr>
              <a:stCxn id="46" idx="3"/>
            </p:cNvCxnSpPr>
            <p:nvPr/>
          </p:nvCxnSpPr>
          <p:spPr>
            <a:xfrm flipV="1">
              <a:off x="7399467" y="4531966"/>
              <a:ext cx="2335309" cy="269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D6473ACB-8DF3-EF47-8270-442B3751BFBB}"/>
                </a:ext>
              </a:extLst>
            </p:cNvPr>
            <p:cNvSpPr txBox="1"/>
            <p:nvPr/>
          </p:nvSpPr>
          <p:spPr>
            <a:xfrm>
              <a:off x="8692250" y="4117813"/>
              <a:ext cx="9420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ldpred2.R</a:t>
              </a:r>
              <a:endParaRPr lang="zh-TW" altLang="en-US" sz="1400" dirty="0"/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E1C2947A-A788-DA3B-C82D-48CFC5C03B56}"/>
              </a:ext>
            </a:extLst>
          </p:cNvPr>
          <p:cNvGrpSpPr/>
          <p:nvPr/>
        </p:nvGrpSpPr>
        <p:grpSpPr>
          <a:xfrm>
            <a:off x="9924745" y="360990"/>
            <a:ext cx="1906061" cy="1326169"/>
            <a:chOff x="12192000" y="377126"/>
            <a:chExt cx="1906061" cy="1326169"/>
          </a:xfrm>
        </p:grpSpPr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5D783D4-C80C-31B4-0D10-108B8CAD769E}"/>
                </a:ext>
              </a:extLst>
            </p:cNvPr>
            <p:cNvSpPr/>
            <p:nvPr/>
          </p:nvSpPr>
          <p:spPr>
            <a:xfrm>
              <a:off x="12192000" y="415371"/>
              <a:ext cx="230400" cy="231289"/>
            </a:xfrm>
            <a:prstGeom prst="ellipse">
              <a:avLst/>
            </a:prstGeom>
            <a:solidFill>
              <a:srgbClr val="46B1E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E73B80FA-34C2-79BF-F553-DC27AC0E34E6}"/>
                </a:ext>
              </a:extLst>
            </p:cNvPr>
            <p:cNvSpPr/>
            <p:nvPr/>
          </p:nvSpPr>
          <p:spPr>
            <a:xfrm>
              <a:off x="12192000" y="924567"/>
              <a:ext cx="230400" cy="231289"/>
            </a:xfrm>
            <a:prstGeom prst="ellipse">
              <a:avLst/>
            </a:prstGeom>
            <a:solidFill>
              <a:srgbClr val="F2AA8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63988330-8465-E20D-AF6D-32A209D4D4E2}"/>
                </a:ext>
              </a:extLst>
            </p:cNvPr>
            <p:cNvSpPr/>
            <p:nvPr/>
          </p:nvSpPr>
          <p:spPr>
            <a:xfrm>
              <a:off x="12192000" y="1433763"/>
              <a:ext cx="230400" cy="23128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6DBF63A6-0191-AEF7-D1C3-1FCA77332A1D}"/>
                </a:ext>
              </a:extLst>
            </p:cNvPr>
            <p:cNvSpPr txBox="1"/>
            <p:nvPr/>
          </p:nvSpPr>
          <p:spPr>
            <a:xfrm>
              <a:off x="12520642" y="377126"/>
              <a:ext cx="13252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Genotype data</a:t>
              </a:r>
              <a:endParaRPr lang="zh-TW" altLang="en-US" sz="1400" dirty="0"/>
            </a:p>
          </p:txBody>
        </p: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A9A02AA3-8E47-4EB9-8F14-88254CC5F310}"/>
                </a:ext>
              </a:extLst>
            </p:cNvPr>
            <p:cNvSpPr txBox="1"/>
            <p:nvPr/>
          </p:nvSpPr>
          <p:spPr>
            <a:xfrm>
              <a:off x="12532696" y="887829"/>
              <a:ext cx="15653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Downstream data</a:t>
              </a:r>
              <a:endParaRPr lang="zh-TW" altLang="en-US" sz="1400" dirty="0"/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61381238-1757-1000-C6EE-E4FBF0F5D384}"/>
                </a:ext>
              </a:extLst>
            </p:cNvPr>
            <p:cNvSpPr txBox="1"/>
            <p:nvPr/>
          </p:nvSpPr>
          <p:spPr>
            <a:xfrm>
              <a:off x="12532695" y="1395518"/>
              <a:ext cx="10695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Helper files</a:t>
              </a:r>
              <a:endParaRPr lang="zh-TW" altLang="en-US" sz="1400" dirty="0"/>
            </a:p>
          </p:txBody>
        </p:sp>
      </p:grp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717EFC63-4735-1BDC-6633-38901379C816}"/>
              </a:ext>
            </a:extLst>
          </p:cNvPr>
          <p:cNvSpPr txBox="1"/>
          <p:nvPr/>
        </p:nvSpPr>
        <p:spPr>
          <a:xfrm>
            <a:off x="960525" y="312717"/>
            <a:ext cx="468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Res_fc_pgs/03_genotype_processing</a:t>
            </a:r>
            <a:endParaRPr lang="zh-TW" altLang="en-US" dirty="0"/>
          </a:p>
        </p:txBody>
      </p:sp>
      <p:pic>
        <p:nvPicPr>
          <p:cNvPr id="76" name="圖形 75" descr="打開的資料夾​​ 以實心填滿">
            <a:extLst>
              <a:ext uri="{FF2B5EF4-FFF2-40B4-BE49-F238E27FC236}">
                <a16:creationId xmlns:a16="http://schemas.microsoft.com/office/drawing/2014/main" id="{BF00A1E2-D40B-AF42-F114-5490BA3B7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789" y="136588"/>
            <a:ext cx="674736" cy="67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0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C4A6-896C-1054-FFBC-C6D221FE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字方塊 73">
            <a:extLst>
              <a:ext uri="{FF2B5EF4-FFF2-40B4-BE49-F238E27FC236}">
                <a16:creationId xmlns:a16="http://schemas.microsoft.com/office/drawing/2014/main" id="{34B438A5-D6BC-BA4D-2124-9F89CB08C205}"/>
              </a:ext>
            </a:extLst>
          </p:cNvPr>
          <p:cNvSpPr txBox="1"/>
          <p:nvPr/>
        </p:nvSpPr>
        <p:spPr>
          <a:xfrm>
            <a:off x="298131" y="252649"/>
            <a:ext cx="468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Genotype QC flow</a:t>
            </a:r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F1812C8-78E5-8A04-7443-CA1F76D1F963}"/>
              </a:ext>
            </a:extLst>
          </p:cNvPr>
          <p:cNvSpPr/>
          <p:nvPr/>
        </p:nvSpPr>
        <p:spPr>
          <a:xfrm>
            <a:off x="355002" y="987453"/>
            <a:ext cx="2286000" cy="8552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TOPMed genotype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633C79D-22CA-8A39-5E60-23C81EEAFC7E}"/>
              </a:ext>
            </a:extLst>
          </p:cNvPr>
          <p:cNvSpPr/>
          <p:nvPr/>
        </p:nvSpPr>
        <p:spPr>
          <a:xfrm>
            <a:off x="355002" y="2460355"/>
            <a:ext cx="2286000" cy="8552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QC-ed genotype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FE1D16F-F2A8-3827-3D14-43FEACC546C0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1498002" y="1842686"/>
            <a:ext cx="0" cy="617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4382BE39-E134-6E96-E0F7-C3BE1E8187C3}"/>
              </a:ext>
            </a:extLst>
          </p:cNvPr>
          <p:cNvSpPr txBox="1"/>
          <p:nvPr/>
        </p:nvSpPr>
        <p:spPr>
          <a:xfrm>
            <a:off x="434804" y="2018815"/>
            <a:ext cx="1051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qc_flow.txt</a:t>
            </a:r>
            <a:endParaRPr lang="zh-TW" altLang="en-US" sz="1400" dirty="0"/>
          </a:p>
        </p:txBody>
      </p:sp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8577954D-47B5-42AC-857E-78A8E88D0C71}"/>
              </a:ext>
            </a:extLst>
          </p:cNvPr>
          <p:cNvGrpSpPr/>
          <p:nvPr/>
        </p:nvGrpSpPr>
        <p:grpSpPr>
          <a:xfrm>
            <a:off x="2206282" y="380873"/>
            <a:ext cx="9778184" cy="5653502"/>
            <a:chOff x="2206282" y="380873"/>
            <a:chExt cx="9778184" cy="565350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矩形: 圓角 127">
                  <a:extLst>
                    <a:ext uri="{FF2B5EF4-FFF2-40B4-BE49-F238E27FC236}">
                      <a16:creationId xmlns:a16="http://schemas.microsoft.com/office/drawing/2014/main" id="{EE58B19E-AE78-1EAD-AA4B-2EEB89DED163}"/>
                    </a:ext>
                  </a:extLst>
                </p:cNvPr>
                <p:cNvSpPr/>
                <p:nvPr/>
              </p:nvSpPr>
              <p:spPr>
                <a:xfrm>
                  <a:off x="6545736" y="380873"/>
                  <a:ext cx="5405392" cy="1874332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372340" indent="-372340" defTabSz="457200">
                    <a:spcBef>
                      <a:spcPts val="1300"/>
                    </a:spcBef>
                    <a:buSzPct val="150000"/>
                    <a:buChar char="•"/>
                    <a:defRPr sz="3000"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pP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Sex discrepancy check: 0.2</a:t>
                  </a:r>
                  <a14:m>
                    <m:oMath xmlns:m="http://schemas.openxmlformats.org/officeDocument/2006/math">
                      <m:r>
                        <a:rPr lang="en-US" altLang="zh-TW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ar-AE" altLang="zh-TW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𝖥</m:t>
                          </m:r>
                        </m:e>
                        <m:sub>
                          <m:r>
                            <a:rPr lang="zh-TW" altLang="ar-AE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𝖷</m:t>
                          </m:r>
                        </m:sub>
                      </m:sSub>
                      <m:r>
                        <a:rPr lang="ar-AE" altLang="zh-TW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ar-AE" altLang="zh-TW" sz="1100" dirty="0">
                      <a:solidFill>
                        <a:schemeClr val="tx1"/>
                      </a:solidFill>
                    </a:rPr>
                    <a:t> 0.8</a:t>
                  </a: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: Imputation data has already excluded</a:t>
                  </a:r>
                </a:p>
                <a:p>
                  <a:pPr marL="372340" indent="-372340" defTabSz="457200">
                    <a:spcBef>
                      <a:spcPts val="1300"/>
                    </a:spcBef>
                    <a:buSzPct val="150000"/>
                    <a:buChar char="•"/>
                    <a:defRPr sz="3000"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pP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Heterozygosity out of </a:t>
                  </a:r>
                  <a14:m>
                    <m:oMath xmlns:m="http://schemas.openxmlformats.org/officeDocument/2006/math">
                      <m:r>
                        <a:rPr lang="zh-TW" alt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𝟥</m:t>
                      </m:r>
                      <m:r>
                        <a:rPr lang="zh-TW" altLang="en-US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r>
                    <a:rPr lang="en-US" altLang="zh-TW" sz="1100" dirty="0">
                      <a:solidFill>
                        <a:schemeClr val="tx1"/>
                      </a:solidFill>
                    </a:rPr>
                    <a:t>; missing rate &gt; 0.05 </a:t>
                  </a:r>
                  <a14:m>
                    <m:oMath xmlns:m="http://schemas.openxmlformats.org/officeDocument/2006/math">
                      <m:r>
                        <a:rPr lang="en-US" altLang="zh-TW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altLang="zh-TW" sz="1100" dirty="0">
                      <a:solidFill>
                        <a:schemeClr val="tx1"/>
                      </a:solidFill>
                    </a:rPr>
                    <a:t> 962 samples removed</a:t>
                  </a:r>
                </a:p>
                <a:p>
                  <a:pPr marL="372340" indent="-372340" defTabSz="457200">
                    <a:spcBef>
                      <a:spcPts val="1300"/>
                    </a:spcBef>
                    <a:buSzPct val="150000"/>
                    <a:buChar char="•"/>
                    <a:defRPr sz="3000"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pP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Relatedness: BOLT-LMM accounts for relatedness structure</a:t>
                  </a:r>
                </a:p>
                <a:p>
                  <a:pPr marL="372340" indent="-372340" defTabSz="457200">
                    <a:spcBef>
                      <a:spcPts val="1300"/>
                    </a:spcBef>
                    <a:buSzPct val="150000"/>
                    <a:buChar char="•"/>
                    <a:defRPr sz="3000"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pP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Population stratification: only self-reported white samples included </a:t>
                  </a:r>
                  <a14:m>
                    <m:oMath xmlns:m="http://schemas.openxmlformats.org/officeDocument/2006/math">
                      <m:r>
                        <a:rPr lang="en-US" altLang="zh-TW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altLang="zh-TW" sz="1100" dirty="0">
                      <a:solidFill>
                        <a:schemeClr val="tx1"/>
                      </a:solidFill>
                    </a:rPr>
                    <a:t> 28,493 samples removed</a:t>
                  </a:r>
                </a:p>
              </p:txBody>
            </p:sp>
          </mc:Choice>
          <mc:Fallback>
            <p:sp>
              <p:nvSpPr>
                <p:cNvPr id="128" name="矩形: 圓角 127">
                  <a:extLst>
                    <a:ext uri="{FF2B5EF4-FFF2-40B4-BE49-F238E27FC236}">
                      <a16:creationId xmlns:a16="http://schemas.microsoft.com/office/drawing/2014/main" id="{EE58B19E-AE78-1EAD-AA4B-2EEB89DED1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5736" y="380873"/>
                  <a:ext cx="5405392" cy="1874332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7B8B4CE8-533B-74EE-6943-A79181668183}"/>
                </a:ext>
              </a:extLst>
            </p:cNvPr>
            <p:cNvSpPr txBox="1"/>
            <p:nvPr/>
          </p:nvSpPr>
          <p:spPr>
            <a:xfrm>
              <a:off x="4680278" y="1947427"/>
              <a:ext cx="10711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Sample QC</a:t>
              </a:r>
              <a:endParaRPr lang="zh-TW" altLang="en-US" sz="1400" dirty="0"/>
            </a:p>
          </p:txBody>
        </p:sp>
        <p:sp>
          <p:nvSpPr>
            <p:cNvPr id="107" name="矩形: 圓角 106">
              <a:extLst>
                <a:ext uri="{FF2B5EF4-FFF2-40B4-BE49-F238E27FC236}">
                  <a16:creationId xmlns:a16="http://schemas.microsoft.com/office/drawing/2014/main" id="{4D36F4E6-E3A6-4094-8C52-B488583BC650}"/>
                </a:ext>
              </a:extLst>
            </p:cNvPr>
            <p:cNvSpPr/>
            <p:nvPr/>
          </p:nvSpPr>
          <p:spPr>
            <a:xfrm>
              <a:off x="3555529" y="987453"/>
              <a:ext cx="1964209" cy="85523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spcBef>
                  <a:spcPts val="13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US" altLang="zh-TW" sz="1400" dirty="0">
                  <a:solidFill>
                    <a:schemeClr val="tx1"/>
                  </a:solidFill>
                </a:rPr>
                <a:t>486,935 samples</a:t>
              </a:r>
            </a:p>
            <a:p>
              <a:pPr defTabSz="457200">
                <a:spcBef>
                  <a:spcPts val="13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US" altLang="zh-TW" sz="1400" dirty="0">
                  <a:solidFill>
                    <a:schemeClr val="tx1"/>
                  </a:solidFill>
                </a:rPr>
                <a:t>231,538,213 variants</a:t>
              </a:r>
            </a:p>
          </p:txBody>
        </p:sp>
        <p:sp>
          <p:nvSpPr>
            <p:cNvPr id="109" name="矩形: 圓角 108">
              <a:extLst>
                <a:ext uri="{FF2B5EF4-FFF2-40B4-BE49-F238E27FC236}">
                  <a16:creationId xmlns:a16="http://schemas.microsoft.com/office/drawing/2014/main" id="{E30226F9-C4B1-4495-0AC5-49F3E5383E2B}"/>
                </a:ext>
              </a:extLst>
            </p:cNvPr>
            <p:cNvSpPr/>
            <p:nvPr/>
          </p:nvSpPr>
          <p:spPr>
            <a:xfrm>
              <a:off x="3555526" y="3315588"/>
              <a:ext cx="1964209" cy="85523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spcBef>
                  <a:spcPts val="13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US" altLang="zh-TW" sz="1400" dirty="0">
                  <a:solidFill>
                    <a:schemeClr val="tx1"/>
                  </a:solidFill>
                </a:rPr>
                <a:t>457,030 samples</a:t>
              </a:r>
            </a:p>
            <a:p>
              <a:pPr defTabSz="457200">
                <a:spcBef>
                  <a:spcPts val="13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US" altLang="zh-TW" sz="1400" dirty="0">
                  <a:solidFill>
                    <a:schemeClr val="tx1"/>
                  </a:solidFill>
                </a:rPr>
                <a:t>7,559,516 variants</a:t>
              </a:r>
            </a:p>
          </p:txBody>
        </p:sp>
        <p:sp>
          <p:nvSpPr>
            <p:cNvPr id="110" name="矩形: 圓角 109">
              <a:extLst>
                <a:ext uri="{FF2B5EF4-FFF2-40B4-BE49-F238E27FC236}">
                  <a16:creationId xmlns:a16="http://schemas.microsoft.com/office/drawing/2014/main" id="{9B009EEE-72BD-12CE-1E14-0A491CE59682}"/>
                </a:ext>
              </a:extLst>
            </p:cNvPr>
            <p:cNvSpPr/>
            <p:nvPr/>
          </p:nvSpPr>
          <p:spPr>
            <a:xfrm>
              <a:off x="3550762" y="5179142"/>
              <a:ext cx="1964209" cy="85523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spcBef>
                  <a:spcPts val="13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US" altLang="zh-TW" sz="1400" dirty="0">
                  <a:solidFill>
                    <a:schemeClr val="tx1"/>
                  </a:solidFill>
                </a:rPr>
                <a:t>159,243 samples</a:t>
              </a:r>
            </a:p>
            <a:p>
              <a:pPr defTabSz="457200">
                <a:spcBef>
                  <a:spcPts val="13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r>
                <a:rPr lang="en-US" altLang="zh-TW" sz="1400" dirty="0">
                  <a:solidFill>
                    <a:schemeClr val="tx1"/>
                  </a:solidFill>
                </a:rPr>
                <a:t>7,559,516 variants</a:t>
              </a:r>
            </a:p>
          </p:txBody>
        </p:sp>
        <p:cxnSp>
          <p:nvCxnSpPr>
            <p:cNvPr id="111" name="直線單箭頭接點 110">
              <a:extLst>
                <a:ext uri="{FF2B5EF4-FFF2-40B4-BE49-F238E27FC236}">
                  <a16:creationId xmlns:a16="http://schemas.microsoft.com/office/drawing/2014/main" id="{0DD4BCBC-B859-8F0A-93F4-4EA54D079B9D}"/>
                </a:ext>
              </a:extLst>
            </p:cNvPr>
            <p:cNvCxnSpPr>
              <a:cxnSpLocks/>
              <a:stCxn id="107" idx="2"/>
              <a:endCxn id="109" idx="0"/>
            </p:cNvCxnSpPr>
            <p:nvPr/>
          </p:nvCxnSpPr>
          <p:spPr>
            <a:xfrm flipH="1">
              <a:off x="4537631" y="1842686"/>
              <a:ext cx="3" cy="14729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線單箭頭接點 114">
              <a:extLst>
                <a:ext uri="{FF2B5EF4-FFF2-40B4-BE49-F238E27FC236}">
                  <a16:creationId xmlns:a16="http://schemas.microsoft.com/office/drawing/2014/main" id="{EEFBE59B-4D95-7243-8961-F4C449EC5802}"/>
                </a:ext>
              </a:extLst>
            </p:cNvPr>
            <p:cNvCxnSpPr>
              <a:cxnSpLocks/>
              <a:stCxn id="109" idx="2"/>
              <a:endCxn id="110" idx="0"/>
            </p:cNvCxnSpPr>
            <p:nvPr/>
          </p:nvCxnSpPr>
          <p:spPr>
            <a:xfrm flipH="1">
              <a:off x="4532867" y="4170821"/>
              <a:ext cx="4764" cy="10083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94F7059F-CA36-3A72-4EC1-47BA5343628D}"/>
                </a:ext>
              </a:extLst>
            </p:cNvPr>
            <p:cNvSpPr/>
            <p:nvPr/>
          </p:nvSpPr>
          <p:spPr>
            <a:xfrm>
              <a:off x="4412267" y="2135268"/>
              <a:ext cx="241200" cy="23987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6F47D02E-A8BC-EDF6-B6C3-28BB24CC2609}"/>
                </a:ext>
              </a:extLst>
            </p:cNvPr>
            <p:cNvSpPr/>
            <p:nvPr/>
          </p:nvSpPr>
          <p:spPr>
            <a:xfrm>
              <a:off x="4412267" y="2714102"/>
              <a:ext cx="241200" cy="23987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2" name="接點: 肘形 121">
              <a:extLst>
                <a:ext uri="{FF2B5EF4-FFF2-40B4-BE49-F238E27FC236}">
                  <a16:creationId xmlns:a16="http://schemas.microsoft.com/office/drawing/2014/main" id="{FD02CFF9-6993-B72F-55B0-1E73FF6A56D7}"/>
                </a:ext>
              </a:extLst>
            </p:cNvPr>
            <p:cNvCxnSpPr>
              <a:cxnSpLocks/>
              <a:stCxn id="119" idx="6"/>
            </p:cNvCxnSpPr>
            <p:nvPr/>
          </p:nvCxnSpPr>
          <p:spPr>
            <a:xfrm flipV="1">
              <a:off x="4653467" y="987453"/>
              <a:ext cx="1896629" cy="1267752"/>
            </a:xfrm>
            <a:prstGeom prst="bentConnector3">
              <a:avLst>
                <a:gd name="adj1" fmla="val 63811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矩形: 圓角 128">
                  <a:extLst>
                    <a:ext uri="{FF2B5EF4-FFF2-40B4-BE49-F238E27FC236}">
                      <a16:creationId xmlns:a16="http://schemas.microsoft.com/office/drawing/2014/main" id="{F32C1CA4-A51E-4F36-E9D9-A37ED8586D2E}"/>
                    </a:ext>
                  </a:extLst>
                </p:cNvPr>
                <p:cNvSpPr/>
                <p:nvPr/>
              </p:nvSpPr>
              <p:spPr>
                <a:xfrm>
                  <a:off x="6579074" y="2491834"/>
                  <a:ext cx="5405392" cy="1756316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372340" indent="-372340" defTabSz="457200">
                    <a:spcBef>
                      <a:spcPts val="1300"/>
                    </a:spcBef>
                    <a:buSzPct val="150000"/>
                    <a:buChar char="•"/>
                    <a:defRPr sz="3000"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pP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Info &lt;0.8 </a:t>
                  </a:r>
                  <a14:m>
                    <m:oMath xmlns:m="http://schemas.openxmlformats.org/officeDocument/2006/math">
                      <m:r>
                        <a:rPr lang="en-US" altLang="zh-TW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altLang="zh-TW" sz="1100" dirty="0">
                      <a:solidFill>
                        <a:schemeClr val="tx1"/>
                      </a:solidFill>
                    </a:rPr>
                    <a:t> 144,557,358 variants removed </a:t>
                  </a:r>
                </a:p>
                <a:p>
                  <a:pPr marL="372340" indent="-372340" defTabSz="457200">
                    <a:spcBef>
                      <a:spcPts val="1300"/>
                    </a:spcBef>
                    <a:buSzPct val="150000"/>
                    <a:buChar char="•"/>
                    <a:defRPr sz="3000"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pPr>
                  <a:r>
                    <a:rPr lang="en-US" altLang="zh-TW" sz="1100" dirty="0" err="1">
                      <a:solidFill>
                        <a:schemeClr val="tx1"/>
                      </a:solidFill>
                    </a:rPr>
                    <a:t>Maf</a:t>
                  </a: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 &lt; 0.01 </a:t>
                  </a:r>
                  <a14:m>
                    <m:oMath xmlns:m="http://schemas.openxmlformats.org/officeDocument/2006/math">
                      <m:r>
                        <a:rPr lang="en-US" altLang="zh-TW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altLang="zh-TW" sz="1100" dirty="0">
                      <a:solidFill>
                        <a:schemeClr val="tx1"/>
                      </a:solidFill>
                    </a:rPr>
                    <a:t> 67,589,102 variants removed </a:t>
                  </a:r>
                </a:p>
                <a:p>
                  <a:pPr marL="372340" indent="-372340" defTabSz="457200">
                    <a:spcBef>
                      <a:spcPts val="1300"/>
                    </a:spcBef>
                    <a:buSzPct val="150000"/>
                    <a:buChar char="•"/>
                    <a:defRPr sz="3000"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pP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Missing genotype &gt; 0.02 </a:t>
                  </a:r>
                  <a14:m>
                    <m:oMath xmlns:m="http://schemas.openxmlformats.org/officeDocument/2006/math">
                      <m:r>
                        <a:rPr lang="en-US" altLang="zh-TW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altLang="zh-TW" sz="1100" dirty="0">
                      <a:solidFill>
                        <a:schemeClr val="tx1"/>
                      </a:solidFill>
                    </a:rPr>
                    <a:t> 1,103,122 variants removed</a:t>
                  </a:r>
                </a:p>
                <a:p>
                  <a:pPr marL="372340" indent="-372340" defTabSz="457200">
                    <a:spcBef>
                      <a:spcPts val="1300"/>
                    </a:spcBef>
                    <a:buSzPct val="150000"/>
                    <a:buChar char="•"/>
                    <a:defRPr sz="3000"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pP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Hardy-Weinberg &lt; </a:t>
                  </a:r>
                  <a14:m>
                    <m:oMath xmlns:m="http://schemas.openxmlformats.org/officeDocument/2006/math">
                      <m:r>
                        <a:rPr lang="zh-TW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𝟣</m:t>
                      </m:r>
                      <m:r>
                        <a:rPr lang="en-US" altLang="zh-TW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ar-AE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𝟣𝟢</m:t>
                          </m:r>
                        </m:e>
                        <m:sup>
                          <m:r>
                            <a:rPr lang="ar-AE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ar-AE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𝟨</m:t>
                          </m:r>
                        </m:sup>
                      </m:sSup>
                    </m:oMath>
                  </a14:m>
                  <a:r>
                    <a:rPr lang="ar-AE" altLang="zh-TW" sz="11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ar-AE" altLang="zh-TW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ar-AE" altLang="zh-TW" sz="1100" dirty="0">
                      <a:solidFill>
                        <a:schemeClr val="tx1"/>
                      </a:solidFill>
                    </a:rPr>
                    <a:t> 24,920 </a:t>
                  </a:r>
                  <a:r>
                    <a:rPr lang="en-US" altLang="zh-TW" sz="1100" dirty="0">
                      <a:solidFill>
                        <a:schemeClr val="tx1"/>
                      </a:solidFill>
                    </a:rPr>
                    <a:t>variants removed</a:t>
                  </a:r>
                </a:p>
              </p:txBody>
            </p:sp>
          </mc:Choice>
          <mc:Fallback>
            <p:sp>
              <p:nvSpPr>
                <p:cNvPr id="129" name="矩形: 圓角 128">
                  <a:extLst>
                    <a:ext uri="{FF2B5EF4-FFF2-40B4-BE49-F238E27FC236}">
                      <a16:creationId xmlns:a16="http://schemas.microsoft.com/office/drawing/2014/main" id="{F32C1CA4-A51E-4F36-E9D9-A37ED8586D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9074" y="2491834"/>
                  <a:ext cx="5405392" cy="1756316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接點: 肘形 129">
              <a:extLst>
                <a:ext uri="{FF2B5EF4-FFF2-40B4-BE49-F238E27FC236}">
                  <a16:creationId xmlns:a16="http://schemas.microsoft.com/office/drawing/2014/main" id="{332316D8-5169-D78E-1557-5A985ACF452A}"/>
                </a:ext>
              </a:extLst>
            </p:cNvPr>
            <p:cNvCxnSpPr>
              <a:cxnSpLocks/>
              <a:stCxn id="120" idx="6"/>
              <a:endCxn id="129" idx="1"/>
            </p:cNvCxnSpPr>
            <p:nvPr/>
          </p:nvCxnSpPr>
          <p:spPr>
            <a:xfrm>
              <a:off x="4653467" y="2834039"/>
              <a:ext cx="1925607" cy="535953"/>
            </a:xfrm>
            <a:prstGeom prst="bentConnector3">
              <a:avLst>
                <a:gd name="adj1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AE949E78-DE13-09A4-6233-B6B71DC09A5F}"/>
                </a:ext>
              </a:extLst>
            </p:cNvPr>
            <p:cNvSpPr txBox="1"/>
            <p:nvPr/>
          </p:nvSpPr>
          <p:spPr>
            <a:xfrm>
              <a:off x="2206282" y="4449958"/>
              <a:ext cx="25239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/>
                <a:t>Participants with BRS score and baseline covariates</a:t>
              </a:r>
            </a:p>
          </p:txBody>
        </p:sp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6EB0C335-ADF3-2F25-6FBF-E44529253DDA}"/>
                </a:ext>
              </a:extLst>
            </p:cNvPr>
            <p:cNvSpPr txBox="1"/>
            <p:nvPr/>
          </p:nvSpPr>
          <p:spPr>
            <a:xfrm>
              <a:off x="4803090" y="2537587"/>
              <a:ext cx="8098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SNP QC</a:t>
              </a:r>
              <a:endParaRPr lang="zh-TW" altLang="en-US" sz="1400" dirty="0"/>
            </a:p>
          </p:txBody>
        </p:sp>
      </p:grpSp>
      <p:sp>
        <p:nvSpPr>
          <p:cNvPr id="143" name="矩形: 圓角 142">
            <a:extLst>
              <a:ext uri="{FF2B5EF4-FFF2-40B4-BE49-F238E27FC236}">
                <a16:creationId xmlns:a16="http://schemas.microsoft.com/office/drawing/2014/main" id="{231EA7D0-4488-34D5-DF19-F208163C1FA1}"/>
              </a:ext>
            </a:extLst>
          </p:cNvPr>
          <p:cNvSpPr/>
          <p:nvPr/>
        </p:nvSpPr>
        <p:spPr>
          <a:xfrm>
            <a:off x="7960838" y="4526633"/>
            <a:ext cx="1964209" cy="8930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spcBef>
                <a:spcPts val="130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zh-TW" sz="1400" dirty="0">
                <a:solidFill>
                  <a:schemeClr val="tx1"/>
                </a:solidFill>
              </a:rPr>
              <a:t>GWAS cohort</a:t>
            </a:r>
          </a:p>
          <a:p>
            <a:pPr defTabSz="457200">
              <a:spcBef>
                <a:spcPts val="130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zh-TW" sz="1400" dirty="0">
                <a:solidFill>
                  <a:schemeClr val="tx1"/>
                </a:solidFill>
              </a:rPr>
              <a:t>130,394 samples</a:t>
            </a:r>
          </a:p>
        </p:txBody>
      </p:sp>
      <p:sp>
        <p:nvSpPr>
          <p:cNvPr id="145" name="矩形: 圓角 144">
            <a:extLst>
              <a:ext uri="{FF2B5EF4-FFF2-40B4-BE49-F238E27FC236}">
                <a16:creationId xmlns:a16="http://schemas.microsoft.com/office/drawing/2014/main" id="{6C51D454-AD1D-B8AF-659C-9C468C488928}"/>
              </a:ext>
            </a:extLst>
          </p:cNvPr>
          <p:cNvSpPr/>
          <p:nvPr/>
        </p:nvSpPr>
        <p:spPr>
          <a:xfrm>
            <a:off x="7960838" y="5774408"/>
            <a:ext cx="1964209" cy="8930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spcBef>
                <a:spcPts val="130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zh-TW" sz="1400" dirty="0">
                <a:solidFill>
                  <a:schemeClr val="tx1"/>
                </a:solidFill>
              </a:rPr>
              <a:t>BWAS cohort</a:t>
            </a:r>
          </a:p>
          <a:p>
            <a:pPr defTabSz="457200">
              <a:spcBef>
                <a:spcPts val="130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zh-TW" sz="1400" dirty="0">
                <a:solidFill>
                  <a:schemeClr val="tx1"/>
                </a:solidFill>
              </a:rPr>
              <a:t>28,849 samples</a:t>
            </a:r>
          </a:p>
        </p:txBody>
      </p:sp>
      <p:cxnSp>
        <p:nvCxnSpPr>
          <p:cNvPr id="147" name="接點: 肘形 146">
            <a:extLst>
              <a:ext uri="{FF2B5EF4-FFF2-40B4-BE49-F238E27FC236}">
                <a16:creationId xmlns:a16="http://schemas.microsoft.com/office/drawing/2014/main" id="{F3343EFF-03E7-5717-35C2-38B1E121AB97}"/>
              </a:ext>
            </a:extLst>
          </p:cNvPr>
          <p:cNvCxnSpPr>
            <a:stCxn id="110" idx="3"/>
            <a:endCxn id="143" idx="1"/>
          </p:cNvCxnSpPr>
          <p:nvPr/>
        </p:nvCxnSpPr>
        <p:spPr>
          <a:xfrm flipV="1">
            <a:off x="5514971" y="4973179"/>
            <a:ext cx="2445867" cy="6335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接點: 肘形 147">
            <a:extLst>
              <a:ext uri="{FF2B5EF4-FFF2-40B4-BE49-F238E27FC236}">
                <a16:creationId xmlns:a16="http://schemas.microsoft.com/office/drawing/2014/main" id="{8F19B3AA-0869-891F-4552-1663B0B35B20}"/>
              </a:ext>
            </a:extLst>
          </p:cNvPr>
          <p:cNvCxnSpPr>
            <a:cxnSpLocks/>
            <a:stCxn id="110" idx="3"/>
            <a:endCxn id="145" idx="1"/>
          </p:cNvCxnSpPr>
          <p:nvPr/>
        </p:nvCxnSpPr>
        <p:spPr>
          <a:xfrm>
            <a:off x="5514971" y="5606759"/>
            <a:ext cx="2445867" cy="6141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3DE83404-D1B2-5F1F-087E-002C520DB115}"/>
              </a:ext>
            </a:extLst>
          </p:cNvPr>
          <p:cNvSpPr txBox="1"/>
          <p:nvPr/>
        </p:nvSpPr>
        <p:spPr>
          <a:xfrm>
            <a:off x="5175580" y="6307303"/>
            <a:ext cx="280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Participants with valid </a:t>
            </a:r>
            <a:r>
              <a:rPr lang="en-US" altLang="zh-TW" sz="1400" dirty="0" err="1"/>
              <a:t>rsfMRI</a:t>
            </a:r>
            <a:r>
              <a:rPr lang="en-US" altLang="zh-TW" sz="1400" dirty="0"/>
              <a:t> data</a:t>
            </a:r>
            <a:endParaRPr lang="zh-TW" altLang="en-US" sz="1400" dirty="0"/>
          </a:p>
        </p:txBody>
      </p:sp>
      <p:sp>
        <p:nvSpPr>
          <p:cNvPr id="157" name="文字方塊 156">
            <a:extLst>
              <a:ext uri="{FF2B5EF4-FFF2-40B4-BE49-F238E27FC236}">
                <a16:creationId xmlns:a16="http://schemas.microsoft.com/office/drawing/2014/main" id="{A4559F86-CCB2-737E-FFCC-38996EAFDF78}"/>
              </a:ext>
            </a:extLst>
          </p:cNvPr>
          <p:cNvSpPr txBox="1"/>
          <p:nvPr/>
        </p:nvSpPr>
        <p:spPr>
          <a:xfrm>
            <a:off x="6185202" y="4596018"/>
            <a:ext cx="1599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Other participants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1095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220</Words>
  <Application>Microsoft Office PowerPoint</Application>
  <PresentationFormat>寬螢幕</PresentationFormat>
  <Paragraphs>49</Paragraphs>
  <Slides>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東彥 吳</dc:creator>
  <cp:lastModifiedBy>東彥 吳</cp:lastModifiedBy>
  <cp:revision>5</cp:revision>
  <dcterms:created xsi:type="dcterms:W3CDTF">2026-01-26T05:59:22Z</dcterms:created>
  <dcterms:modified xsi:type="dcterms:W3CDTF">2026-01-26T07:06:57Z</dcterms:modified>
</cp:coreProperties>
</file>